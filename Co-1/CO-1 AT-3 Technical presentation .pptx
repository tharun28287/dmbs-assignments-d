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59" r:id="rId6"/>
    <p:sldId id="268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embeddedFontLst>
    <p:embeddedFont>
      <p:font typeface="Lora" pitchFamily="2" charset="0"/>
      <p:regular r:id="rId16"/>
    </p:embeddedFont>
    <p:embeddedFont>
      <p:font typeface="Source Sans 3" panose="020B0604020202020204" charset="0"/>
      <p:regular r:id="rId17"/>
    </p:embeddedFont>
    <p:embeddedFont>
      <p:font typeface="Source Sans 3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5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6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8893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649850" y="2049218"/>
            <a:ext cx="8096845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chemeClr val="bg1"/>
                </a:solidFill>
              </a:rPr>
              <a:t>CSA0504-DATABASE MANAGEMENT SYSTEM</a:t>
            </a:r>
          </a:p>
        </p:txBody>
      </p:sp>
      <p:sp>
        <p:nvSpPr>
          <p:cNvPr id="4" name="Text 1"/>
          <p:cNvSpPr/>
          <p:nvPr/>
        </p:nvSpPr>
        <p:spPr>
          <a:xfrm>
            <a:off x="3456348" y="2596481"/>
            <a:ext cx="8096845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Entity Relationship (ER) Diagram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23577" y="4482926"/>
            <a:ext cx="8554045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SIMATS Engineering · Bachelor of Technology · Database Management Systems</a:t>
            </a:r>
            <a:endParaRPr lang="en-US" sz="1100" dirty="0"/>
          </a:p>
        </p:txBody>
      </p:sp>
      <p:pic>
        <p:nvPicPr>
          <p:cNvPr id="7" name="Picture 2" descr="SIMATS ENGINEERING —BIOTECHNOLOGY">
            <a:extLst>
              <a:ext uri="{FF2B5EF4-FFF2-40B4-BE49-F238E27FC236}">
                <a16:creationId xmlns:a16="http://schemas.microsoft.com/office/drawing/2014/main" id="{76946A45-80D4-3C00-18E0-A165D572C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01" y="255064"/>
            <a:ext cx="8689576" cy="881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EB96A5-C212-32CA-3F72-2DE832C95718}"/>
              </a:ext>
            </a:extLst>
          </p:cNvPr>
          <p:cNvSpPr txBox="1"/>
          <p:nvPr/>
        </p:nvSpPr>
        <p:spPr>
          <a:xfrm>
            <a:off x="6830458" y="3531764"/>
            <a:ext cx="2313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Presented by</a:t>
            </a:r>
          </a:p>
          <a:p>
            <a:r>
              <a:rPr lang="en-US" sz="1400" dirty="0">
                <a:solidFill>
                  <a:schemeClr val="bg1"/>
                </a:solidFill>
              </a:rPr>
              <a:t>M.THARUN KUMAR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426690"/>
            <a:ext cx="4051548" cy="22729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2825800"/>
            <a:ext cx="8096845" cy="33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Introduction to DBMS &amp; Library Management</a:t>
            </a:r>
            <a:endParaRPr lang="en-US" sz="2050" dirty="0"/>
          </a:p>
        </p:txBody>
      </p:sp>
      <p:sp>
        <p:nvSpPr>
          <p:cNvPr id="4" name="Shape 1"/>
          <p:cNvSpPr/>
          <p:nvPr/>
        </p:nvSpPr>
        <p:spPr>
          <a:xfrm>
            <a:off x="523577" y="3282032"/>
            <a:ext cx="4006379" cy="753889"/>
          </a:xfrm>
          <a:prstGeom prst="roundRect">
            <a:avLst>
              <a:gd name="adj" fmla="val 2233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635719" y="3394174"/>
            <a:ext cx="378209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DBMS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35719" y="3609603"/>
            <a:ext cx="3782095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Software system that stores, retrieves, and manages structured data in a database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614044" y="3282032"/>
            <a:ext cx="4006379" cy="753889"/>
          </a:xfrm>
          <a:prstGeom prst="roundRect">
            <a:avLst>
              <a:gd name="adj" fmla="val 2233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4726186" y="3394174"/>
            <a:ext cx="378209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Library Management System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26186" y="3609603"/>
            <a:ext cx="3782095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Digitized platform to manage books, members, loans, and fines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23577" y="4120009"/>
            <a:ext cx="4006379" cy="596801"/>
          </a:xfrm>
          <a:prstGeom prst="roundRect">
            <a:avLst>
              <a:gd name="adj" fmla="val 2820"/>
            </a:avLst>
          </a:prstGeom>
          <a:solidFill>
            <a:srgbClr val="444752"/>
          </a:solidFill>
          <a:ln/>
        </p:spPr>
      </p:sp>
      <p:sp>
        <p:nvSpPr>
          <p:cNvPr id="11" name="Text 8"/>
          <p:cNvSpPr/>
          <p:nvPr/>
        </p:nvSpPr>
        <p:spPr>
          <a:xfrm>
            <a:off x="635719" y="4232151"/>
            <a:ext cx="378209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Database?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5719" y="4447580"/>
            <a:ext cx="3782095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Eliminates redundancy, ensures data integrity, enables fast retrieval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614044" y="4120009"/>
            <a:ext cx="4006379" cy="596801"/>
          </a:xfrm>
          <a:prstGeom prst="roundRect">
            <a:avLst>
              <a:gd name="adj" fmla="val 2820"/>
            </a:avLst>
          </a:prstGeom>
          <a:solidFill>
            <a:srgbClr val="444752"/>
          </a:solidFill>
          <a:ln/>
        </p:spPr>
      </p:sp>
      <p:sp>
        <p:nvSpPr>
          <p:cNvPr id="14" name="Text 11"/>
          <p:cNvSpPr/>
          <p:nvPr/>
        </p:nvSpPr>
        <p:spPr>
          <a:xfrm>
            <a:off x="4726186" y="4232151"/>
            <a:ext cx="3782095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ER Modeling?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26186" y="4447580"/>
            <a:ext cx="3782095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a visual blueprint of the database before implementation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3072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 Statement: Manual vs. Digital Library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576" y="1952030"/>
            <a:ext cx="1639119" cy="151529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994" y="731118"/>
            <a:ext cx="3957191" cy="39571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D02AAB-C36A-BC4E-8138-B88858CB621B}"/>
              </a:ext>
            </a:extLst>
          </p:cNvPr>
          <p:cNvSpPr txBox="1"/>
          <p:nvPr/>
        </p:nvSpPr>
        <p:spPr>
          <a:xfrm>
            <a:off x="1024299" y="1432462"/>
            <a:ext cx="732796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Question 1 </a:t>
            </a:r>
          </a:p>
          <a:p>
            <a:pPr algn="just"/>
            <a:r>
              <a:rPr lang="en-US" sz="3200" b="1" dirty="0">
                <a:solidFill>
                  <a:schemeClr val="bg1"/>
                </a:solidFill>
              </a:rPr>
              <a:t>Create and present an ER diagram for an Online Library System, explaining each component clearly?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419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59569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ER Model Fundamentals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698799"/>
            <a:ext cx="374005" cy="3740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4585" y="1698799"/>
            <a:ext cx="339387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Entity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84585" y="2008510"/>
            <a:ext cx="339387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Rectangle — A real-world object (e.g., Student, Book)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5464" y="1698799"/>
            <a:ext cx="374005" cy="3740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6472" y="1698799"/>
            <a:ext cx="339395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Attribute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226472" y="2008510"/>
            <a:ext cx="339395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Oval — Property of an entity (e.g., StudentID, Title)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2547119"/>
            <a:ext cx="374005" cy="3740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4585" y="2547119"/>
            <a:ext cx="339387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Relationship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84585" y="2856830"/>
            <a:ext cx="339387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Diamond — Association between entities (e.g., Borrows)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5464" y="2547119"/>
            <a:ext cx="374005" cy="3740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26472" y="2547119"/>
            <a:ext cx="339395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Primary Key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226472" y="2856830"/>
            <a:ext cx="339395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Underlined attribute — Uniquely identifies each record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77" y="3634829"/>
            <a:ext cx="374005" cy="37400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84585" y="3634829"/>
            <a:ext cx="339387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Foreign Key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084585" y="3944541"/>
            <a:ext cx="339387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Links two related tables together across entities</a:t>
            </a:r>
            <a:endParaRPr lang="en-US" sz="11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5464" y="3634829"/>
            <a:ext cx="374005" cy="37400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26472" y="3634829"/>
            <a:ext cx="339395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Cardinality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5226472" y="3944541"/>
            <a:ext cx="339395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1:1 · 1:N · M:N — defines how many instances relate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C3F35E-912B-851C-B31B-74A49A5BF416}"/>
              </a:ext>
            </a:extLst>
          </p:cNvPr>
          <p:cNvSpPr txBox="1"/>
          <p:nvPr/>
        </p:nvSpPr>
        <p:spPr>
          <a:xfrm>
            <a:off x="524107" y="157461"/>
            <a:ext cx="809578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Explanation of ER Components</a:t>
            </a:r>
          </a:p>
          <a:p>
            <a:r>
              <a:rPr lang="en-US" b="1" dirty="0">
                <a:solidFill>
                  <a:schemeClr val="bg1"/>
                </a:solidFill>
              </a:rPr>
              <a:t>Entity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Represents real-world objects.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Student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Book</a:t>
            </a:r>
          </a:p>
          <a:p>
            <a:r>
              <a:rPr lang="en-US" b="1" dirty="0">
                <a:solidFill>
                  <a:schemeClr val="bg1"/>
                </a:solidFill>
              </a:rPr>
              <a:t>Attribute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Describes entity.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Student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Book Title</a:t>
            </a:r>
          </a:p>
          <a:p>
            <a:r>
              <a:rPr lang="en-US" b="1" dirty="0">
                <a:solidFill>
                  <a:schemeClr val="bg1"/>
                </a:solidFill>
              </a:rPr>
              <a:t>Relationship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Shows association.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Student borrows Book.</a:t>
            </a:r>
          </a:p>
          <a:p>
            <a:r>
              <a:rPr lang="en-US" b="1" dirty="0">
                <a:solidFill>
                  <a:schemeClr val="bg1"/>
                </a:solidFill>
              </a:rPr>
              <a:t>Cardinality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One student can borrow many books.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One book can be borrowed by many students over time.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602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4561"/>
            <a:ext cx="8096845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Main Entities of the System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074465"/>
            <a:ext cx="838200" cy="838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2071539"/>
            <a:ext cx="1905000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🎓</a:t>
            </a: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Student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23577" y="2350666"/>
            <a:ext cx="1905000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StudentID, Name, Email, Phone, Department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451" y="1074465"/>
            <a:ext cx="838200" cy="838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87451" y="2071539"/>
            <a:ext cx="1905074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📖</a:t>
            </a: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Book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2587451" y="2350666"/>
            <a:ext cx="1905074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ISBN, Title, Genre, Year, Copies Available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1400" y="1074465"/>
            <a:ext cx="838200" cy="838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51400" y="2071539"/>
            <a:ext cx="1905074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✍️</a:t>
            </a: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Author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651400" y="2350666"/>
            <a:ext cx="1905074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AuthorID, Name, Nationality, Bio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348" y="1074465"/>
            <a:ext cx="838200" cy="838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15348" y="2071539"/>
            <a:ext cx="1905074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🏢</a:t>
            </a: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Publisher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6715348" y="2350666"/>
            <a:ext cx="1905074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PublisherID, Name, Address, Contact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77" y="3028801"/>
            <a:ext cx="838200" cy="838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77" y="4025875"/>
            <a:ext cx="1905000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🔄</a:t>
            </a: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Loan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523577" y="4305002"/>
            <a:ext cx="1905000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LoanID, IssueDate, DueDate, ReturnDate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7451" y="3028801"/>
            <a:ext cx="838200" cy="8382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587451" y="4025875"/>
            <a:ext cx="1905074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📅</a:t>
            </a: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Reservation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2587451" y="4305002"/>
            <a:ext cx="1905074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ReservationID, ReservedDate, Status</a:t>
            </a:r>
            <a:endParaRPr lang="en-US" sz="10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1400" y="3028801"/>
            <a:ext cx="838200" cy="8382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651400" y="4025875"/>
            <a:ext cx="1905074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💰</a:t>
            </a: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Fine</a:t>
            </a:r>
            <a:endParaRPr lang="en-US" sz="1250" dirty="0"/>
          </a:p>
        </p:txBody>
      </p:sp>
      <p:sp>
        <p:nvSpPr>
          <p:cNvPr id="23" name="Text 14"/>
          <p:cNvSpPr/>
          <p:nvPr/>
        </p:nvSpPr>
        <p:spPr>
          <a:xfrm>
            <a:off x="4651400" y="4305002"/>
            <a:ext cx="1905074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FineID, Amount, PaidStatus, PaidDate</a:t>
            </a:r>
            <a:endParaRPr lang="en-US" sz="10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5348" y="3028801"/>
            <a:ext cx="838200" cy="8382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715348" y="4025875"/>
            <a:ext cx="1905074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👩‍💼</a:t>
            </a: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Librarian</a:t>
            </a:r>
            <a:endParaRPr lang="en-US" sz="1250" dirty="0"/>
          </a:p>
        </p:txBody>
      </p:sp>
      <p:sp>
        <p:nvSpPr>
          <p:cNvPr id="26" name="Text 16"/>
          <p:cNvSpPr/>
          <p:nvPr/>
        </p:nvSpPr>
        <p:spPr>
          <a:xfrm>
            <a:off x="6715348" y="4305002"/>
            <a:ext cx="1905074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LibrarianID, Name, StaffID, Shift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Complete ER Diagram — Online Library Management System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706189"/>
            <a:ext cx="73152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4863033"/>
            <a:ext cx="855404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Eight core entities connected by six relationships — Primary Keys underlined, Foreign Keys labeled on connecting lines, cardinality shown using crow's foot notation.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3072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Relationship Explanations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731118"/>
            <a:ext cx="3957191" cy="395719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4794123" y="726747"/>
            <a:ext cx="112142" cy="1121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2542" y="657704"/>
            <a:ext cx="3714155" cy="114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🎓</a:t>
            </a: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→</a:t>
            </a: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📖</a:t>
            </a: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Student Borrows Book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022541" y="891451"/>
            <a:ext cx="371415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student can borrow many books </a:t>
            </a:r>
            <a:r>
              <a:rPr lang="en-US" sz="14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(1:N)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8190" y="1435663"/>
            <a:ext cx="112142" cy="1121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22542" y="1356252"/>
            <a:ext cx="3714155" cy="114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🎓</a:t>
            </a: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→</a:t>
            </a: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📅</a:t>
            </a: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Student Reserves Book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5022542" y="1583141"/>
            <a:ext cx="371415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Many students can reserve many books </a:t>
            </a:r>
            <a:r>
              <a:rPr lang="en-US" sz="14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(M:N)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205" y="2040423"/>
            <a:ext cx="112142" cy="1121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100601" y="1940054"/>
            <a:ext cx="3714155" cy="114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📖</a:t>
            </a: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→</a:t>
            </a: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✍️</a:t>
            </a: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Book Written By Author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5345927" y="2159706"/>
            <a:ext cx="371415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book can have multiple authors </a:t>
            </a:r>
            <a:r>
              <a:rPr lang="en-US" sz="14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(M:N)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4356" y="2645183"/>
            <a:ext cx="112142" cy="11214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22540" y="2589777"/>
            <a:ext cx="3714155" cy="114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📖</a:t>
            </a: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→</a:t>
            </a: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🏢</a:t>
            </a: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Book Published By Publisher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5613557" y="2834548"/>
            <a:ext cx="371415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Many books per publisher </a:t>
            </a:r>
            <a:r>
              <a:rPr lang="en-US" sz="14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(N:1)</a:t>
            </a:r>
            <a:endParaRPr lang="en-US" sz="14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9276" y="3864521"/>
            <a:ext cx="112142" cy="11214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00601" y="3239500"/>
            <a:ext cx="3714155" cy="114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🔄</a:t>
            </a: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→</a:t>
            </a: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💰</a:t>
            </a: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Loan Generates Fine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5022538" y="3459341"/>
            <a:ext cx="371415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overdue loan generates one fine </a:t>
            </a:r>
            <a:r>
              <a:rPr lang="en-US" sz="14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(1:1)</a:t>
            </a:r>
            <a:endParaRPr lang="en-US" sz="14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4774804" y="3269327"/>
            <a:ext cx="178914" cy="17891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022539" y="3852367"/>
            <a:ext cx="3714155" cy="114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👩‍💼</a:t>
            </a: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→</a:t>
            </a:r>
            <a:r>
              <a:rPr lang="en-US" sz="14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🔄</a:t>
            </a: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Librarian Manages Loan</a:t>
            </a:r>
            <a:endParaRPr lang="en-US" sz="1400" dirty="0"/>
          </a:p>
        </p:txBody>
      </p:sp>
      <p:sp>
        <p:nvSpPr>
          <p:cNvPr id="21" name="Text 12"/>
          <p:cNvSpPr/>
          <p:nvPr/>
        </p:nvSpPr>
        <p:spPr>
          <a:xfrm>
            <a:off x="4920332" y="4313106"/>
            <a:ext cx="371415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librarian manages many loans </a:t>
            </a:r>
            <a:r>
              <a:rPr lang="en-US" sz="14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(1:N)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1871"/>
            <a:ext cx="8096845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Relational Schema — Database Tables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23577" y="1071042"/>
            <a:ext cx="8096845" cy="3630513"/>
          </a:xfrm>
          <a:prstGeom prst="roundRect">
            <a:avLst>
              <a:gd name="adj" fmla="val 55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3577" y="1431503"/>
            <a:ext cx="8096845" cy="832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577" y="1991097"/>
            <a:ext cx="8096845" cy="832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3577" y="2349178"/>
            <a:ext cx="8096845" cy="832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3577" y="2707258"/>
            <a:ext cx="8096845" cy="832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3577" y="3065338"/>
            <a:ext cx="8096845" cy="832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23577" y="3624932"/>
            <a:ext cx="8096845" cy="832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3577" y="3983013"/>
            <a:ext cx="8096845" cy="832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23577" y="4341093"/>
            <a:ext cx="8096845" cy="832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8340" y="1075804"/>
            <a:ext cx="2021830" cy="355699"/>
          </a:xfrm>
          <a:prstGeom prst="rect">
            <a:avLst/>
          </a:prstGeom>
          <a:solidFill>
            <a:srgbClr val="F98AC7"/>
          </a:solidFill>
          <a:ln/>
        </p:spPr>
      </p:sp>
      <p:sp>
        <p:nvSpPr>
          <p:cNvPr id="13" name="Text 11"/>
          <p:cNvSpPr/>
          <p:nvPr/>
        </p:nvSpPr>
        <p:spPr>
          <a:xfrm>
            <a:off x="661541" y="1151706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Table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50170" y="1075804"/>
            <a:ext cx="2021830" cy="355699"/>
          </a:xfrm>
          <a:prstGeom prst="rect">
            <a:avLst/>
          </a:prstGeom>
          <a:solidFill>
            <a:srgbClr val="F98AC7"/>
          </a:solidFill>
          <a:ln/>
        </p:spPr>
      </p:sp>
      <p:sp>
        <p:nvSpPr>
          <p:cNvPr id="15" name="Text 13"/>
          <p:cNvSpPr/>
          <p:nvPr/>
        </p:nvSpPr>
        <p:spPr>
          <a:xfrm>
            <a:off x="2683371" y="1151706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Primary Key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075804"/>
            <a:ext cx="2021830" cy="355699"/>
          </a:xfrm>
          <a:prstGeom prst="rect">
            <a:avLst/>
          </a:prstGeom>
          <a:solidFill>
            <a:srgbClr val="F98AC7"/>
          </a:solidFill>
          <a:ln/>
        </p:spPr>
      </p:sp>
      <p:sp>
        <p:nvSpPr>
          <p:cNvPr id="17" name="Text 15"/>
          <p:cNvSpPr/>
          <p:nvPr/>
        </p:nvSpPr>
        <p:spPr>
          <a:xfrm>
            <a:off x="4705201" y="1151706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Foreign Keys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93830" y="1075804"/>
            <a:ext cx="2021830" cy="355699"/>
          </a:xfrm>
          <a:prstGeom prst="rect">
            <a:avLst/>
          </a:prstGeom>
          <a:solidFill>
            <a:srgbClr val="F98AC7"/>
          </a:solidFill>
          <a:ln/>
        </p:spPr>
      </p:sp>
      <p:sp>
        <p:nvSpPr>
          <p:cNvPr id="19" name="Text 17"/>
          <p:cNvSpPr/>
          <p:nvPr/>
        </p:nvSpPr>
        <p:spPr>
          <a:xfrm>
            <a:off x="6727031" y="1151706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Key Attributes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1541" y="1509787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83371" y="1509787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StudentID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5201" y="1509787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7031" y="1509787"/>
            <a:ext cx="1755428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Name, Email, Phone, Department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1541" y="2069381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83371" y="2069381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ISBN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5201" y="2069381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PublisherID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27031" y="2069381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Title, Genre, Year, Copies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1541" y="2427461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Author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83371" y="2427461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AuthorID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5201" y="2427461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27031" y="2427461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Name, Nationality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1541" y="2785542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Publisher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83371" y="2785542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PublisherID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5201" y="2785542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27031" y="2785542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Name, Address, Contact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1541" y="3143622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83371" y="3143622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LoanID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05201" y="3143622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StudentID, ISBN, LibrarianID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27031" y="3143622"/>
            <a:ext cx="1755428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IssueDate, DueDate, ReturnDate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1541" y="3703216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Reservation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83371" y="3703216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ReservationID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05201" y="3703216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StudentID, ISBN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27031" y="3703216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ReservedDate, Status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1541" y="4061296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683371" y="4061296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FineID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05201" y="4061296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LoanID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27031" y="4061296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Amount, PaidStatus, PaidDate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61541" y="4419377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Librarian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683371" y="4419377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LibrarianID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05201" y="4419377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727031" y="4419377"/>
            <a:ext cx="2212628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Name, StaffID, Shift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36290"/>
            <a:ext cx="8096845" cy="35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Advantages of Database-Driven Library System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991344"/>
            <a:ext cx="243111" cy="2431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1357908"/>
            <a:ext cx="398665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🛡️</a:t>
            </a: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Reduced Redundancy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23577" y="1595884"/>
            <a:ext cx="3986659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Normalization eliminates duplicate data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689" y="991344"/>
            <a:ext cx="243111" cy="2431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33689" y="1357908"/>
            <a:ext cx="3986733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Data Integrity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633689" y="1595884"/>
            <a:ext cx="3986733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Constraints enforce valid, consistent records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1969666"/>
            <a:ext cx="243111" cy="2431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3577" y="2336229"/>
            <a:ext cx="398665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⚡</a:t>
            </a: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Fast Searching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523577" y="2574206"/>
            <a:ext cx="3986659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Indexed queries return results in milliseconds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3689" y="1969666"/>
            <a:ext cx="243111" cy="2431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33689" y="2336229"/>
            <a:ext cx="3986733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🔧</a:t>
            </a: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Easy Maintenance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4633689" y="2574206"/>
            <a:ext cx="3986733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Centralized updates propagate instantly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77" y="2947988"/>
            <a:ext cx="243111" cy="24311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77" y="3314551"/>
            <a:ext cx="398665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🔒</a:t>
            </a: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Security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523577" y="3552527"/>
            <a:ext cx="3986659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Role-based access control protects sensitive data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3689" y="2947988"/>
            <a:ext cx="243111" cy="24311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33689" y="3314551"/>
            <a:ext cx="3986733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📈</a:t>
            </a: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Scalability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4633689" y="3552527"/>
            <a:ext cx="3986733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Handles thousands of concurrent users</a:t>
            </a:r>
            <a:endParaRPr lang="en-US" sz="9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577" y="3926309"/>
            <a:ext cx="243111" cy="243111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23577" y="4292873"/>
            <a:ext cx="398665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☁️</a:t>
            </a: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Backup &amp; Recovery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523577" y="4530849"/>
            <a:ext cx="3986659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backups prevent data loss</a:t>
            </a:r>
            <a:endParaRPr lang="en-US" sz="9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3689" y="3926309"/>
            <a:ext cx="243111" cy="243111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633689" y="4292873"/>
            <a:ext cx="3986733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💳</a:t>
            </a:r>
            <a:r>
              <a:rPr lang="en-US" sz="1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Reliable Transactions</a:t>
            </a:r>
            <a:endParaRPr lang="en-US" sz="1100" dirty="0"/>
          </a:p>
        </p:txBody>
      </p:sp>
      <p:sp>
        <p:nvSpPr>
          <p:cNvPr id="26" name="Text 16"/>
          <p:cNvSpPr/>
          <p:nvPr/>
        </p:nvSpPr>
        <p:spPr>
          <a:xfrm>
            <a:off x="4633689" y="4530849"/>
            <a:ext cx="3986733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ACID properties ensure consistency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451321"/>
            <a:ext cx="3060948" cy="20370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2589609"/>
            <a:ext cx="8096845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Real-World Applications of Database Systems</a:t>
            </a:r>
            <a:endParaRPr lang="en-US" sz="1850" dirty="0"/>
          </a:p>
        </p:txBody>
      </p:sp>
      <p:sp>
        <p:nvSpPr>
          <p:cNvPr id="4" name="Shape 1"/>
          <p:cNvSpPr/>
          <p:nvPr/>
        </p:nvSpPr>
        <p:spPr>
          <a:xfrm>
            <a:off x="523577" y="2986460"/>
            <a:ext cx="4014639" cy="523577"/>
          </a:xfrm>
          <a:prstGeom prst="roundRect">
            <a:avLst>
              <a:gd name="adj" fmla="val 2880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624036" y="3086919"/>
            <a:ext cx="3813721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🎓</a:t>
            </a: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University Library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24036" y="3275186"/>
            <a:ext cx="3813721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 records, book loans, digital resources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605710" y="2986460"/>
            <a:ext cx="4014713" cy="523577"/>
          </a:xfrm>
          <a:prstGeom prst="roundRect">
            <a:avLst>
              <a:gd name="adj" fmla="val 2880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4706169" y="3086919"/>
            <a:ext cx="3813795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🏥</a:t>
            </a: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Hospital Database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706169" y="3275186"/>
            <a:ext cx="3813795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Patient records, prescriptions, appointments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23577" y="3577530"/>
            <a:ext cx="4014639" cy="523577"/>
          </a:xfrm>
          <a:prstGeom prst="roundRect">
            <a:avLst>
              <a:gd name="adj" fmla="val 2880"/>
            </a:avLst>
          </a:prstGeom>
          <a:solidFill>
            <a:srgbClr val="444752"/>
          </a:solidFill>
          <a:ln/>
        </p:spPr>
      </p:sp>
      <p:sp>
        <p:nvSpPr>
          <p:cNvPr id="11" name="Text 8"/>
          <p:cNvSpPr/>
          <p:nvPr/>
        </p:nvSpPr>
        <p:spPr>
          <a:xfrm>
            <a:off x="624036" y="3677989"/>
            <a:ext cx="3813721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🏦</a:t>
            </a: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Banking System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4036" y="3866257"/>
            <a:ext cx="3813721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Accounts, transactions, fraud detection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605710" y="3577530"/>
            <a:ext cx="4014713" cy="523577"/>
          </a:xfrm>
          <a:prstGeom prst="roundRect">
            <a:avLst>
              <a:gd name="adj" fmla="val 2880"/>
            </a:avLst>
          </a:prstGeom>
          <a:solidFill>
            <a:srgbClr val="444752"/>
          </a:solidFill>
          <a:ln/>
        </p:spPr>
      </p:sp>
      <p:sp>
        <p:nvSpPr>
          <p:cNvPr id="14" name="Text 11"/>
          <p:cNvSpPr/>
          <p:nvPr/>
        </p:nvSpPr>
        <p:spPr>
          <a:xfrm>
            <a:off x="4706169" y="3677989"/>
            <a:ext cx="3813795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🛒</a:t>
            </a: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E-Commerce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06169" y="3866257"/>
            <a:ext cx="3813795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Products, orders, inventory, customers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3577" y="4168601"/>
            <a:ext cx="4014639" cy="523577"/>
          </a:xfrm>
          <a:prstGeom prst="roundRect">
            <a:avLst>
              <a:gd name="adj" fmla="val 2880"/>
            </a:avLst>
          </a:prstGeom>
          <a:solidFill>
            <a:srgbClr val="444752"/>
          </a:solidFill>
          <a:ln/>
        </p:spPr>
      </p:sp>
      <p:sp>
        <p:nvSpPr>
          <p:cNvPr id="17" name="Text 14"/>
          <p:cNvSpPr/>
          <p:nvPr/>
        </p:nvSpPr>
        <p:spPr>
          <a:xfrm>
            <a:off x="624036" y="4269060"/>
            <a:ext cx="3813721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✈️</a:t>
            </a: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Airline Reservation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4036" y="4457328"/>
            <a:ext cx="3813721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Flights, seats, passengers, bookings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605710" y="4168601"/>
            <a:ext cx="4014713" cy="523577"/>
          </a:xfrm>
          <a:prstGeom prst="roundRect">
            <a:avLst>
              <a:gd name="adj" fmla="val 2880"/>
            </a:avLst>
          </a:prstGeom>
          <a:solidFill>
            <a:srgbClr val="444752"/>
          </a:solidFill>
          <a:ln/>
        </p:spPr>
      </p:sp>
      <p:sp>
        <p:nvSpPr>
          <p:cNvPr id="20" name="Text 17"/>
          <p:cNvSpPr/>
          <p:nvPr/>
        </p:nvSpPr>
        <p:spPr>
          <a:xfrm>
            <a:off x="4706169" y="4269060"/>
            <a:ext cx="3813795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📦</a:t>
            </a:r>
            <a:r>
              <a:rPr lang="en-US" sz="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Supply Chain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06169" y="4457328"/>
            <a:ext cx="3813795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Vendors, inventory, logistics, delivery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416198"/>
            <a:ext cx="3337322" cy="22243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2761506"/>
            <a:ext cx="8096845" cy="323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 &amp; Future Scope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44475" y="3205609"/>
            <a:ext cx="4072607" cy="1521693"/>
          </a:xfrm>
          <a:prstGeom prst="roundRect">
            <a:avLst>
              <a:gd name="adj" fmla="val 1083"/>
            </a:avLst>
          </a:prstGeom>
          <a:solidFill>
            <a:srgbClr val="F98AC7"/>
          </a:solidFill>
          <a:ln/>
        </p:spPr>
      </p:sp>
      <p:sp>
        <p:nvSpPr>
          <p:cNvPr id="5" name="Text 2"/>
          <p:cNvSpPr/>
          <p:nvPr/>
        </p:nvSpPr>
        <p:spPr>
          <a:xfrm>
            <a:off x="554310" y="3286274"/>
            <a:ext cx="3852937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54310" y="3528492"/>
            <a:ext cx="3852937" cy="513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6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ER Model is the </a:t>
            </a:r>
            <a:r>
              <a:rPr lang="en-US" sz="8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foundation</a:t>
            </a:r>
            <a:r>
              <a:rPr lang="en-US" sz="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every well-designed relational database</a:t>
            </a:r>
            <a:endParaRPr lang="en-US" sz="850" dirty="0"/>
          </a:p>
          <a:p>
            <a:pPr marL="172720" indent="-172720" algn="l">
              <a:lnSpc>
                <a:spcPct val="116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Proper database design ensures </a:t>
            </a:r>
            <a:r>
              <a:rPr lang="en-US" sz="8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data integrity, speed, and scalability</a:t>
            </a:r>
            <a:endParaRPr lang="en-US" sz="850" dirty="0"/>
          </a:p>
          <a:p>
            <a:pPr marL="172720" indent="-172720" algn="l">
              <a:lnSpc>
                <a:spcPct val="116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Online Library System eliminates manual errors and improves user experience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710782" y="3286274"/>
            <a:ext cx="3914403" cy="166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🚀</a:t>
            </a:r>
            <a:r>
              <a:rPr lang="en-US" sz="10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Future Scope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10782" y="3603724"/>
            <a:ext cx="54918" cy="54918"/>
          </a:xfrm>
          <a:prstGeom prst="ellipse">
            <a:avLst/>
          </a:prstGeom>
          <a:solidFill>
            <a:srgbClr val="6EB9FC"/>
          </a:solidFill>
          <a:ln/>
        </p:spPr>
      </p:sp>
      <p:sp>
        <p:nvSpPr>
          <p:cNvPr id="9" name="Text 6"/>
          <p:cNvSpPr/>
          <p:nvPr/>
        </p:nvSpPr>
        <p:spPr>
          <a:xfrm>
            <a:off x="4846365" y="3543300"/>
            <a:ext cx="3778821" cy="152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AI-powered book recommendations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710782" y="3917379"/>
            <a:ext cx="54918" cy="54918"/>
          </a:xfrm>
          <a:prstGeom prst="ellipse">
            <a:avLst/>
          </a:prstGeom>
          <a:solidFill>
            <a:srgbClr val="6EB9FC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65" y="3856955"/>
            <a:ext cx="3778821" cy="152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RFID-based real-time book tracking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710782" y="4231035"/>
            <a:ext cx="54918" cy="54918"/>
          </a:xfrm>
          <a:prstGeom prst="ellipse">
            <a:avLst/>
          </a:prstGeom>
          <a:solidFill>
            <a:srgbClr val="6EB9FC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65" y="4170611"/>
            <a:ext cx="3778821" cy="152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 migration &amp; mobile app integration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710782" y="4544690"/>
            <a:ext cx="54918" cy="54918"/>
          </a:xfrm>
          <a:prstGeom prst="ellipse">
            <a:avLst/>
          </a:prstGeom>
          <a:solidFill>
            <a:srgbClr val="6EB9FC"/>
          </a:solidFill>
          <a:ln/>
        </p:spPr>
      </p:sp>
      <p:sp>
        <p:nvSpPr>
          <p:cNvPr id="15" name="Text 12"/>
          <p:cNvSpPr/>
          <p:nvPr/>
        </p:nvSpPr>
        <p:spPr>
          <a:xfrm>
            <a:off x="4846365" y="4484266"/>
            <a:ext cx="3778821" cy="152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Blockchain-based fine management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732</Words>
  <Application>Microsoft Office PowerPoint</Application>
  <PresentationFormat>On-screen Show (16:9)</PresentationFormat>
  <Paragraphs>167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Source Sans 3</vt:lpstr>
      <vt:lpstr>Lora</vt:lpstr>
      <vt:lpstr>Source Sans 3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THARUN KUMAR</cp:lastModifiedBy>
  <cp:revision>4</cp:revision>
  <dcterms:created xsi:type="dcterms:W3CDTF">2026-07-23T04:28:49Z</dcterms:created>
  <dcterms:modified xsi:type="dcterms:W3CDTF">2026-07-23T06:15:58Z</dcterms:modified>
</cp:coreProperties>
</file>